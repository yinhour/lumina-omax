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A5B4FC"/>
                </a:solidFill>
                <a:latin typeface="Microsoft YaHei"/>
                <a:ea typeface="Microsoft YaHei"/>
              </a:rPr>
              <a:t>LUMITON·OMAX 用户培训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让每一轮研发</a:t>
            </a:r>
          </a:p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都可追踪、可复盘、可预测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7D2FE"/>
                </a:solidFill>
                <a:latin typeface="Microsoft YaHei"/>
                <a:ea typeface="Microsoft YaHei"/>
              </a:rPr>
              <a:t>—— 证据驱动的研发闭环工作法：用 Lumiton·Omax 建立可复制的研发操作系统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526280"/>
            <a:ext cx="128016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A5B4FC"/>
                </a:solidFill>
                <a:latin typeface="Microsoft YaHei"/>
                <a:ea typeface="Microsoft YaHei"/>
              </a:rPr>
              <a:t>对象：主管领导 + 系统使用人员（约 12 人）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A5B4FC"/>
                </a:solidFill>
                <a:latin typeface="Microsoft YaHei"/>
                <a:ea typeface="Microsoft YaHei"/>
              </a:rPr>
              <a:t>形式：PPT 宣讲为主线 · 试用系统现场实操 · 2026 年 8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今天的议程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</a:rPr>
              <a:t>半天 3 小时 · 不是功能培训，是一起跑通一条研发链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02920" cy="65836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09344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</a:rPr>
              <a:t>开场：我们从试用中观察到什么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62763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</a:rPr>
              <a:t>30 分钟  ·  全员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04288"/>
            <a:ext cx="502920" cy="65836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59152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</a:rPr>
              <a:t>一条主线：证据驱动研发七阶段（含 4 次现场实操）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</a:rPr>
              <a:t>100 分钟  ·  使用人员为主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54096"/>
            <a:ext cx="502920" cy="65836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</a:rPr>
              <a:t>把闭环装进系统：试点笔记本、命名规则、数据模板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1272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</a:rPr>
              <a:t>20 分钟  ·  使用人员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03904"/>
            <a:ext cx="502920" cy="65836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858768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</a:rPr>
              <a:t>数据安全：出网脱敏对使用的影响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87705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</a:rPr>
              <a:t>10 分钟  ·  全员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53712"/>
            <a:ext cx="502920" cy="65836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608576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</a:rPr>
              <a:t>稳定保障与路线图：从 7 月反馈到 8 月修复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62686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</a:rPr>
              <a:t>10 分钟  ·  全员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03520"/>
            <a:ext cx="502920" cy="65836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358384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</a:rPr>
              <a:t>从今天开始的 30 天：成功指标与每个人的下一步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53766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Microsoft YaHei"/>
                <a:ea typeface="Microsoft YaHei"/>
              </a:rPr>
              <a:t>10 分钟  ·  全员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D9770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开场：我们从试用中观察到什么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7D2FE"/>
                </a:solidFill>
                <a:latin typeface="Microsoft YaHei"/>
                <a:ea typeface="Microsoft YaHei"/>
              </a:rPr>
              <a:t>从试用期真实数据出发，对齐一个判断：问题不在 AI，在研发方法。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观察一：资料已经很多，但以「文档堆叠」为主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 b="0">
                <a:solidFill>
                  <a:srgbClr val="1F2937"/>
                </a:solidFill>
                <a:latin typeface="Microsoft YaHei"/>
                <a:ea typeface="Microsoft YaHei"/>
              </a:rPr>
              <a:t>▪ 产品说明书、研发报告、评价实验报告、合成实验记录、原始数据表、结题报告……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1F2937"/>
                </a:solidFill>
                <a:latin typeface="Microsoft YaHei"/>
                <a:ea typeface="Microsoft YaHei"/>
              </a:rPr>
              <a:t>▪ 10+ 产品线并存：降失水剂、缓凝剂、减阻剂、冲洗剂、隔离剂、堵漏剂、膨胀剂、填充剂、加重剂、防沉降剂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1F2937"/>
                </a:solidFill>
                <a:latin typeface="Microsoft YaHei"/>
                <a:ea typeface="Microsoft YaHei"/>
              </a:rPr>
              <a:t>▪ 数据形态混合：PDF / DOC / XLS / ZIP / 外部文献链接并存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1F2937"/>
                </a:solidFill>
                <a:latin typeface="Microsoft YaHei"/>
                <a:ea typeface="Microsoft YaHei"/>
              </a:rPr>
              <a:t>▪ 同一主题连续迭代：HX-16L / HX-16S 降失水剂、ATMP 合成条件优化……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1F2937"/>
                </a:solidFill>
                <a:latin typeface="Microsoft YaHei"/>
                <a:ea typeface="Microsoft YaHei"/>
              </a:rPr>
              <a:t>▪ 更偏「应用结果」：缺少统一的原料批次、分子结构、工艺参数、测试条件、失败原因字段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11018520" cy="50292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92400E"/>
                </a:solidFill>
                <a:latin typeface="Microsoft YaHei"/>
                <a:ea typeface="Microsoft YaHei"/>
              </a:rPr>
              <a:t>问题不是资料不够 —— 是资料不可检索、不可复用。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观察二：典型的提问方式是「直接要答案」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 b="0">
                <a:solidFill>
                  <a:srgbClr val="1F2937"/>
                </a:solidFill>
                <a:latin typeface="Microsoft YaHei"/>
                <a:ea typeface="Microsoft YaHei"/>
              </a:rPr>
              <a:t>▪ 把大量实验报告、产品说明书、测试记录导入系统后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1F2937"/>
                </a:solidFill>
                <a:latin typeface="Microsoft YaHei"/>
                <a:ea typeface="Microsoft YaHei"/>
              </a:rPr>
              <a:t>▪ 直接问：「下一步怎么做？」「给出建议」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1F2937"/>
                </a:solidFill>
                <a:latin typeface="Microsoft YaHei"/>
                <a:ea typeface="Microsoft YaHei"/>
              </a:rPr>
              <a:t>▪ 本质：把研发决策外包给 AI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1F2937"/>
                </a:solidFill>
                <a:latin typeface="Microsoft YaHei"/>
                <a:ea typeface="Microsoft YaHei"/>
              </a:rPr>
              <a:t>▪ AI 的建议没有经过问题定义、证据整理、假设验证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1F2937"/>
                </a:solidFill>
                <a:latin typeface="Microsoft YaHei"/>
                <a:ea typeface="Microsoft YaHei"/>
              </a:rPr>
              <a:t>▪ 结果：建议不可追踪、不可复盘、更不可预测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11018520" cy="50292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92400E"/>
                </a:solidFill>
                <a:latin typeface="Microsoft YaHei"/>
                <a:ea typeface="Microsoft YaHei"/>
              </a:rPr>
              <a:t>这不是提问技巧问题 —— 是研发活动缺一套可被 AI 承接的结构化方法。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观察三：三个层级，其实在问三件不同的事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566160" cy="56692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管理层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3520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降本 10%-15%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现场技术问题 -30%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交付率 85%+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决策支持而非一次性报告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57800"/>
            <a:ext cx="3566160" cy="50292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92400E"/>
                </a:solidFill>
                <a:latin typeface="Microsoft YaHei"/>
                <a:ea typeface="Microsoft YaHei"/>
              </a:rPr>
              <a:t>要「管理视图」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566160" cy="56692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中层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286000"/>
            <a:ext cx="3520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补上分子结构/理化性质验证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解释水泥原料波动的影响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总结配方-条件-性能规律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5257800"/>
            <a:ext cx="3566160" cy="50292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92400E"/>
                </a:solidFill>
                <a:latin typeface="Microsoft YaHei"/>
                <a:ea typeface="Microsoft YaHei"/>
              </a:rPr>
              <a:t>要「机理与预测」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554480"/>
            <a:ext cx="3566160" cy="56692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执行层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286000"/>
            <a:ext cx="3520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同一代号多配方、现场对不上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高温高压测试反复试错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失败经验不可复用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257800"/>
            <a:ext cx="3566160" cy="50292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92400E"/>
                </a:solidFill>
                <a:latin typeface="Microsoft YaHei"/>
                <a:ea typeface="Microsoft YaHei"/>
              </a:rPr>
              <a:t>要「结构化资产」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897880"/>
            <a:ext cx="11018520" cy="5029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12E81"/>
                </a:solidFill>
                <a:latin typeface="Microsoft YaHei"/>
                <a:ea typeface="Microsoft YaHei"/>
              </a:rPr>
              <a:t>三层诉求不同，但都指向同一个缺口 —— 一条能被 AI 承接的研发链。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我们的核心判断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515600" cy="23774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tIns="304800"/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312E81"/>
                </a:solidFill>
                <a:latin typeface="Microsoft YaHei"/>
                <a:ea typeface="Microsoft YaHei"/>
              </a:rPr>
              <a:t>当前试用面临的主要问题，不是「不会问 AI」——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312E81"/>
                </a:solidFill>
                <a:latin typeface="Microsoft YaHei"/>
                <a:ea typeface="Microsoft YaHei"/>
              </a:rPr>
              <a:t>而是研发活动本身，缺少一套可被 AI 承接的结构化方法。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434840"/>
            <a:ext cx="10515600" cy="141732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tIns="17780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92400E"/>
                </a:solidFill>
                <a:latin typeface="Microsoft YaHei"/>
                <a:ea typeface="Microsoft YaHei"/>
              </a:rPr>
              <a:t>Lumina 在欧美克的价值主张：</a:t>
            </a:r>
          </a:p>
          <a:p>
            <a:pPr algn="l">
              <a:spcAft>
                <a:spcPts val="600"/>
              </a:spcAft>
            </a:pPr>
            <a:r>
              <a:rPr sz="1650" b="1">
                <a:solidFill>
                  <a:srgbClr val="1F2937"/>
                </a:solidFill>
                <a:latin typeface="Microsoft YaHei"/>
                <a:ea typeface="Microsoft YaHei"/>
              </a:rPr>
              <a:t>从「实验报告问答工具」→ 把历史经验、实验数据、现场反馈、产品机理假设</a:t>
            </a:r>
          </a:p>
          <a:p>
            <a:pPr algn="l">
              <a:spcAft>
                <a:spcPts val="600"/>
              </a:spcAft>
            </a:pPr>
            <a:r>
              <a:rPr sz="1650" b="1">
                <a:solidFill>
                  <a:srgbClr val="1F2937"/>
                </a:solidFill>
                <a:latin typeface="Microsoft YaHei"/>
                <a:ea typeface="Microsoft YaHei"/>
              </a:rPr>
              <a:t>组织成可追踪、可复盘、可预测的研发决策系统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D9770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一条主线：证据驱动研发七阶段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7D2FE"/>
                </a:solidFill>
                <a:latin typeface="Microsoft YaHei"/>
                <a:ea typeface="Microsoft YaHei"/>
              </a:rPr>
              <a:t>每个阶段 = 一个研发动作 + 一组标准提问 + 一份可沉淀的产出。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七阶段研发闭环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</a:rPr>
              <a:t>试点：油井水泥用降失水剂 —— 一线最高优先级，回应规律总结与预测诉求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517904" cy="173736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阶段 0</a:t>
            </a:r>
          </a:p>
          <a:p>
            <a:pPr algn="ctr">
              <a:spcBef>
                <a:spcPts val="800"/>
              </a:spcBef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</a:rPr>
              <a:t>问题定义</a:t>
            </a:r>
          </a:p>
          <a:p>
            <a:pPr algn="ctr">
              <a:spcBef>
                <a:spcPts val="500"/>
              </a:spcBef>
            </a:pPr>
            <a:r>
              <a:rPr sz="1150" b="0">
                <a:solidFill>
                  <a:srgbClr val="E0E7FF"/>
                </a:solidFill>
                <a:latin typeface="Microsoft YaHei"/>
                <a:ea typeface="Microsoft YaHei"/>
              </a:rPr>
              <a:t>立题与边界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65299" y="2395728"/>
            <a:ext cx="73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6B7280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31136" y="1691640"/>
            <a:ext cx="1517904" cy="173736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阶段 1</a:t>
            </a:r>
          </a:p>
          <a:p>
            <a:pPr algn="ctr">
              <a:spcBef>
                <a:spcPts val="800"/>
              </a:spcBef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</a:rPr>
              <a:t>证据地图</a:t>
            </a:r>
          </a:p>
          <a:p>
            <a:pPr algn="ctr">
              <a:spcBef>
                <a:spcPts val="500"/>
              </a:spcBef>
            </a:pPr>
            <a:r>
              <a:rPr sz="1150" b="0">
                <a:solidFill>
                  <a:srgbClr val="E0E7FF"/>
                </a:solidFill>
                <a:latin typeface="Microsoft YaHei"/>
                <a:ea typeface="Microsoft YaHei"/>
              </a:rPr>
              <a:t>分层与索引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6355" y="2395728"/>
            <a:ext cx="73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6B7280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22191" y="1691640"/>
            <a:ext cx="1517904" cy="173736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阶段 2</a:t>
            </a:r>
          </a:p>
          <a:p>
            <a:pPr algn="ctr">
              <a:spcBef>
                <a:spcPts val="800"/>
              </a:spcBef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</a:rPr>
              <a:t>产品-配方-场景映射</a:t>
            </a:r>
          </a:p>
          <a:p>
            <a:pPr algn="ctr">
              <a:spcBef>
                <a:spcPts val="500"/>
              </a:spcBef>
            </a:pPr>
            <a:r>
              <a:rPr sz="1150" b="0">
                <a:solidFill>
                  <a:srgbClr val="E0E7FF"/>
                </a:solidFill>
                <a:latin typeface="Microsoft YaHei"/>
                <a:ea typeface="Microsoft YaHei"/>
              </a:rPr>
              <a:t>代号-版本-场景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7411" y="2395728"/>
            <a:ext cx="73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6B7280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13248" y="1691640"/>
            <a:ext cx="1517904" cy="173736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阶段 3</a:t>
            </a:r>
          </a:p>
          <a:p>
            <a:pPr algn="ctr">
              <a:spcBef>
                <a:spcPts val="800"/>
              </a:spcBef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</a:rPr>
              <a:t>机理假设</a:t>
            </a:r>
          </a:p>
          <a:p>
            <a:pPr algn="ctr">
              <a:spcBef>
                <a:spcPts val="500"/>
              </a:spcBef>
            </a:pPr>
            <a:r>
              <a:rPr sz="1150" b="0">
                <a:solidFill>
                  <a:srgbClr val="E0E7FF"/>
                </a:solidFill>
                <a:latin typeface="Microsoft YaHei"/>
                <a:ea typeface="Microsoft YaHei"/>
              </a:rPr>
              <a:t>证据与反证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8467" y="2395728"/>
            <a:ext cx="73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6B7280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04304" y="1691640"/>
            <a:ext cx="1517904" cy="173736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阶段 4</a:t>
            </a:r>
          </a:p>
          <a:p>
            <a:pPr algn="ctr">
              <a:spcBef>
                <a:spcPts val="800"/>
              </a:spcBef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</a:rPr>
              <a:t>实验矩阵</a:t>
            </a:r>
          </a:p>
          <a:p>
            <a:pPr algn="ctr">
              <a:spcBef>
                <a:spcPts val="500"/>
              </a:spcBef>
            </a:pPr>
            <a:r>
              <a:rPr sz="1150" b="0">
                <a:solidFill>
                  <a:srgbClr val="E0E7FF"/>
                </a:solidFill>
                <a:latin typeface="Microsoft YaHei"/>
                <a:ea typeface="Microsoft YaHei"/>
              </a:rPr>
              <a:t>≤8 组最小矩阵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9523" y="2395728"/>
            <a:ext cx="73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6B7280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1691640"/>
            <a:ext cx="1517904" cy="173736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阶段 5</a:t>
            </a:r>
          </a:p>
          <a:p>
            <a:pPr algn="ctr">
              <a:spcBef>
                <a:spcPts val="800"/>
              </a:spcBef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</a:rPr>
              <a:t>实验复盘</a:t>
            </a:r>
          </a:p>
          <a:p>
            <a:pPr algn="ctr">
              <a:spcBef>
                <a:spcPts val="500"/>
              </a:spcBef>
            </a:pPr>
            <a:r>
              <a:rPr sz="1150" b="0">
                <a:solidFill>
                  <a:srgbClr val="E0E7FF"/>
                </a:solidFill>
                <a:latin typeface="Microsoft YaHei"/>
                <a:ea typeface="Microsoft YaHei"/>
              </a:rPr>
              <a:t>假设 vs 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20579" y="2395728"/>
            <a:ext cx="73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6B7280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86416" y="1691640"/>
            <a:ext cx="1517904" cy="173736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阶段 6</a:t>
            </a:r>
          </a:p>
          <a:p>
            <a:pPr algn="ctr">
              <a:spcBef>
                <a:spcPts val="800"/>
              </a:spcBef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</a:rPr>
              <a:t>Gate 与管理摘要</a:t>
            </a:r>
          </a:p>
          <a:p>
            <a:pPr algn="ctr">
              <a:spcBef>
                <a:spcPts val="500"/>
              </a:spcBef>
            </a:pPr>
            <a:r>
              <a:rPr sz="1150" b="0">
                <a:solidFill>
                  <a:srgbClr val="E0E7FF"/>
                </a:solidFill>
                <a:latin typeface="Microsoft YaHei"/>
                <a:ea typeface="Microsoft YaHei"/>
              </a:rPr>
              <a:t>决策与管理视图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49039"/>
            <a:ext cx="11018520" cy="566928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312E81"/>
                </a:solidFill>
                <a:latin typeface="Microsoft YaHei"/>
                <a:ea typeface="Microsoft YaHei"/>
              </a:rPr>
              <a:t>每一阶段 = 一个研发动作 + 一组标准提问 + 一份可沉淀的产出（保存为笔记）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26280"/>
            <a:ext cx="11018520" cy="566928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92400E"/>
                </a:solidFill>
                <a:latin typeface="Microsoft YaHei"/>
                <a:ea typeface="Microsoft YaHei"/>
              </a:rPr>
              <a:t>每个阶段的「标准提问」已内置在系统提示与帮助中心 —— 忘了怎么问，系统会引导你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阶段 0：项目立题与边界定义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</a:rPr>
              <a:t>下一张：现场实操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研发人员必须先回答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本项目服务哪个产品线？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目标应用区块、温度、压力、水泥厂家/批次、水质条件？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当前失败或不满足指标的具体表现？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成功判据是什么？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成本、工艺、交付周期有什么约束？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已尝试过哪些方案？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81328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Lumina 的任务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根据上传资料生成「项目问题定义卡」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识别资料中缺失的关键边界条件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把宽泛问题改写成可实验验证的问题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97880"/>
            <a:ext cx="11018520" cy="50292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92400E"/>
                </a:solidFill>
                <a:latin typeface="Microsoft YaHei"/>
                <a:ea typeface="Microsoft YaHei"/>
              </a:rPr>
              <a:t>目标：防止一上来就「许愿」—— 先定义问题，再谈方案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阶段 0 ｜ 问题定义卡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1828800" cy="420624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现场实操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312E81"/>
                </a:solidFill>
                <a:latin typeface="Microsoft YaHei"/>
                <a:ea typeface="Microsoft YaHei"/>
              </a:rPr>
              <a:t>操作步骤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① 新建试点笔记本「降失水剂_HX-16L_试点」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② 上传 2–3 份主题资料（研发报告 / 实验记录 Excel / 产品说明书）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③ 进入 Chat，粘贴右侧提问词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27248"/>
            <a:ext cx="10972800" cy="2999232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27000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312E81"/>
                </a:solidFill>
                <a:latin typeface="Microsoft YaHei"/>
                <a:ea typeface="Microsoft YaHei"/>
              </a:rPr>
              <a:t>标准提问（直接复制粘贴）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请基于当前笔记本资料，帮我生成本项目的问题定义卡。必须包含：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1. 产品对象　2. 应用工况　3. 当前不达标指标　4. 已尝试方案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5. 成功判据　6. 关键约束　7. 还缺哪些数据才能进入实验设计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请把「文档中有证据」和「你推断的内容」分开列出。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99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D97706"/>
                </a:solidFill>
                <a:latin typeface="Microsoft YaHei"/>
                <a:ea typeface="Microsoft YaHei"/>
              </a:rPr>
              <a:t>产出：问题定义卡 → 保存为笔记「HX-16L 问题定义卡 v1」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阶段 1：资料分层与证据地图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</a:rPr>
              <a:t>下一张：现场实操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建议 5 类证据笔记本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01 产品说明与技术指标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02 历史研发报告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03 实验记录与原始数据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04 现场反馈与施工结果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05 外部文献与竞品资料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81328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Lumina 的任务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汇总每份资料的证据类型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标记「可用于决策」与「仅作背景」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建立「指标—实验—结论—文件来源」证据索引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输出每份资料的证据强度：高 / 中 / 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97880"/>
            <a:ext cx="11018520" cy="50292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92400E"/>
                </a:solidFill>
                <a:latin typeface="Microsoft YaHei"/>
                <a:ea typeface="Microsoft YaHei"/>
              </a:rPr>
              <a:t>目标：把一堆报告变成可查询的证据体系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阶段 1 ｜ 证据地图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1828800" cy="420624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现场实操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312E81"/>
                </a:solidFill>
                <a:latin typeface="Microsoft YaHei"/>
                <a:ea typeface="Microsoft YaHei"/>
              </a:rPr>
              <a:t>操作步骤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① 在来源栏演示筛选与「本次聊天引用范围」选择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② 粘贴右侧提问词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27248"/>
            <a:ext cx="10972800" cy="2999232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27000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312E81"/>
                </a:solidFill>
                <a:latin typeface="Microsoft YaHei"/>
                <a:ea typeface="Microsoft YaHei"/>
              </a:rPr>
              <a:t>标准提问（直接复制粘贴）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请把当前来源按「产品说明、实验记录、研发报告、现场反馈、外部文献、原始数据」分类。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对每个来源判断：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1. 它能支持哪类研发决策　2. 它包含哪些关键指标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3. 它缺少哪些字段　4. 它的证据强度是高/中/低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最后输出一张证据地图。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99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D97706"/>
                </a:solidFill>
                <a:latin typeface="Microsoft YaHei"/>
                <a:ea typeface="Microsoft YaHei"/>
              </a:rPr>
              <a:t>产出：证据地图 → 保存为笔记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阶段 2：产品-配方-场景映射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</a:rPr>
              <a:t>下一张：现场实操（重点演示来源筛选）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最小映射字段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产品代号：HX-12L / HX-14L / HX-16L / HX-16S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配方版本：小试 / 中试 / 生产样 / 现场样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功能类型 + 原料批次与供应商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水泥厂家、批次、类型 · 水质条件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工况：温度、压力、密度、盐度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关键性能指标 · 现场或实验结果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81328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Lumina 的任务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从历史报告抽取产品代号与配方版本线索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发现同名产品下的配方差异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识别「换水泥后性能变化」的案例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97880"/>
            <a:ext cx="11018520" cy="50292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92400E"/>
                </a:solidFill>
                <a:latin typeface="Microsoft YaHei"/>
                <a:ea typeface="Microsoft YaHei"/>
              </a:rPr>
              <a:t>目标：解决「同一代号多配方、现场对不上」的核心管理问题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阶段 2 ｜ 产品-配方-场景映射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1828800" cy="420624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现场实操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312E81"/>
                </a:solidFill>
                <a:latin typeface="Microsoft YaHei"/>
                <a:ea typeface="Microsoft YaHei"/>
              </a:rPr>
              <a:t>操作步骤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① 来源栏筛选本次要参考的来源（如「HX」）—— 资料属于项目 ≠ 本次回答引用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② 粘贴右侧提问词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27248"/>
            <a:ext cx="10972800" cy="2999232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27000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312E81"/>
                </a:solidFill>
                <a:latin typeface="Microsoft YaHei"/>
                <a:ea typeface="Microsoft YaHei"/>
              </a:rPr>
              <a:t>标准提问（直接复制粘贴）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请从当前资料中整理所有降失水剂相关的产品代号、配方版本、应用场景和性能结果。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重点识别：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1. 同一产品代号是否对应多个配方或样品阶段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2. 是否出现同一配方在不同水泥/水质下表现差异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3. 哪些记录缺少配方、批次或测试条件，导致无法复用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请输出为表格。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99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D97706"/>
                </a:solidFill>
                <a:latin typeface="Microsoft YaHei"/>
                <a:ea typeface="Microsoft YaHei"/>
              </a:rPr>
              <a:t>产出：产品-配方-场景映射表 → 保存为笔记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阶段 3：机理假设生成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</a:rPr>
              <a:t>下一张：现场实操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每个假设必须包含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假设描述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已有证据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可能反证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需要补测的理化指标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推荐验证实验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若成立，下一轮配方调整方向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81328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Lumina 的任务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基于历史报告 + 外部文献生成可验证假设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把假设拆成「支持证据 / 反证风险 / 验证实验」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避免把相关性直接说成因果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回答区分「已有证据 / 合理推断 / 需要补充验证」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97880"/>
            <a:ext cx="11018520" cy="50292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92400E"/>
                </a:solidFill>
                <a:latin typeface="Microsoft YaHei"/>
                <a:ea typeface="Microsoft YaHei"/>
              </a:rPr>
              <a:t>目标：补上分子结构验证 —— 不问「下一步怎么做」，先问「哪些机理可能解释差异」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阶段 3 ｜ 机理假设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1828800" cy="420624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现场实操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312E81"/>
                </a:solidFill>
                <a:latin typeface="Microsoft YaHei"/>
                <a:ea typeface="Microsoft YaHei"/>
              </a:rPr>
              <a:t>操作步骤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① 基于映射表与证据地图继续对话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② 粘贴右侧提问词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27248"/>
            <a:ext cx="10972800" cy="2999232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27000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312E81"/>
                </a:solidFill>
                <a:latin typeface="Microsoft YaHei"/>
                <a:ea typeface="Microsoft YaHei"/>
              </a:rPr>
              <a:t>标准提问（直接复制粘贴）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请基于当前降失水剂资料，提出 3-5 个可能解释性能差异的机理假设。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每个假设必须包含：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1. 假设描述　2. 已有证据　3. 可能反证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4. 需要补测的理化指标　5. 推荐验证实验　6. 若假设成立，下一轮配方调整方向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不要直接给最终配方。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99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D97706"/>
                </a:solidFill>
                <a:latin typeface="Microsoft YaHei"/>
                <a:ea typeface="Microsoft YaHei"/>
              </a:rPr>
              <a:t>产出：机理假设清单（区分证据 / 推断 / 待验证）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阶段 4：实验矩阵设计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</a:rPr>
              <a:t>下一张：现场实操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每轮实验必须明确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固定变量 · 待考察变量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对照组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指标优先级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失败判据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是否进入中试的 Gate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实验数量：不超过 8 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81328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Lumina 的任务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根据假设生成最小实验矩阵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减少无效组合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给出「为什么这样设计」的解释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97880"/>
            <a:ext cx="11018520" cy="50292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92400E"/>
                </a:solidFill>
                <a:latin typeface="Microsoft YaHei"/>
                <a:ea typeface="Microsoft YaHei"/>
              </a:rPr>
              <a:t>目标：把 AI 建议变成可执行实验，而不是灵感列表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阶段 4 ｜ 实验矩阵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1828800" cy="420624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现场实操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312E81"/>
                </a:solidFill>
                <a:latin typeface="Microsoft YaHei"/>
                <a:ea typeface="Microsoft YaHei"/>
              </a:rPr>
              <a:t>操作步骤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① 选定一个假设继续提问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② 粘贴右侧提问词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27248"/>
            <a:ext cx="10972800" cy="2999232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27000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312E81"/>
                </a:solidFill>
                <a:latin typeface="Microsoft YaHei"/>
                <a:ea typeface="Microsoft YaHei"/>
              </a:rPr>
              <a:t>标准提问（直接复制粘贴）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请围绕假设 A 设计一轮最小实验矩阵。要求：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1. 控制实验数量，不超过 8 组　2. 明确每组改变的变量　3. 明确对照组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4. 明确测试指标和通过标准　5. 明确失败后如何判断原因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6. 说明哪些结果支持或推翻该假设。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99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D97706"/>
                </a:solidFill>
                <a:latin typeface="Microsoft YaHei"/>
                <a:ea typeface="Microsoft YaHei"/>
              </a:rPr>
              <a:t>产出：实验矩阵表（≤8 组、含失败判据与 Gate 条件）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阶段 5：实验后复盘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</a:rPr>
              <a:t>下一张：现场实操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复盘必须回答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原假设是什么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哪些数据支持假设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哪些数据与假设冲突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失败最可能来自：配方 / 工艺 / 原料 / 水泥批次 / 测试条件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下一轮只验证哪 1-2 个问题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这次实验应沉淀为什么规则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81328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Lumina 的任务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对比实验前假设与实验后结果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判断假设被支持、部分支持还是推翻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生成下一轮实验问题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输出可保存为笔记的结构化复盘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97880"/>
            <a:ext cx="11018520" cy="50292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92400E"/>
                </a:solidFill>
                <a:latin typeface="Microsoft YaHei"/>
                <a:ea typeface="Microsoft YaHei"/>
              </a:rPr>
              <a:t>目标：每次实验都沉淀，而不是只留下一个报告文件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阶段 5 ｜ 实验复盘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1828800" cy="420624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现场实操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312E81"/>
                </a:solidFill>
                <a:latin typeface="Microsoft YaHei"/>
                <a:ea typeface="Microsoft YaHei"/>
              </a:rPr>
              <a:t>操作步骤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① 上传本轮实验报告作为新来源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② 粘贴右侧提问词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③ 点击「保存为笔记」—— 每次实验必须沉淀，失败案例进入知识库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27248"/>
            <a:ext cx="10972800" cy="2999232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27000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312E81"/>
                </a:solidFill>
                <a:latin typeface="Microsoft YaHei"/>
                <a:ea typeface="Microsoft YaHei"/>
              </a:rPr>
              <a:t>标准提问（直接复制粘贴）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请根据本轮实验报告，做一次研发复盘。必须回答：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1. 原假设是什么　2. 哪些数据支持假设　3. 哪些数据与假设冲突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4. 失败或异常最可能来自配方、工艺、原料、水泥批次还是测试条件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5. 下一轮只应该验证哪 1-2 个问题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6. 这次实验应该沉淀到知识库的规则是什么。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99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D97706"/>
                </a:solidFill>
                <a:latin typeface="Microsoft YaHei"/>
                <a:ea typeface="Microsoft YaHei"/>
              </a:rPr>
              <a:t>产出：结构化复盘笔记 → 失败案例复用从这里开始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阶段 6：项目 Gate 与管理层摘要（主管领导重点）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</a:rPr>
              <a:t>下一张：现场实操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4 个 Gate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Gate 1：问题定义完成，关键资料齐备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Gate 2：机理假设明确，实验矩阵通过评审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Gate 3：小试结果达标，成本与工艺风险可控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Gate 4：中试/现场验证通过，进入产品化或客户应用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81328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Lumina 的任务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生成每周项目状态摘要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标记当前 Gate、风险和阻塞点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输出继续 / 暂停 / 转向 / 补数据建议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每个项目输出四类视图：成本影响 · 现场风险 · 交付进度 · 复用知识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97880"/>
            <a:ext cx="11018520" cy="50292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92400E"/>
                </a:solidFill>
                <a:latin typeface="Microsoft YaHei"/>
                <a:ea typeface="Microsoft YaHei"/>
              </a:rPr>
              <a:t>目标：把技术过程转成能用于决策的管理视图；研发例会固定使用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阶段 6 ｜ 管理摘要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1828800" cy="420624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现场实操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312E81"/>
                </a:solidFill>
                <a:latin typeface="Microsoft YaHei"/>
                <a:ea typeface="Microsoft YaHei"/>
              </a:rPr>
              <a:t>操作步骤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① 面向主管领导演示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② 粘贴右侧提问词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27248"/>
            <a:ext cx="10972800" cy="2999232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 tIns="127000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312E81"/>
                </a:solidFill>
                <a:latin typeface="Microsoft YaHei"/>
                <a:ea typeface="Microsoft YaHei"/>
              </a:rPr>
              <a:t>标准提问（直接复制粘贴）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请把当前项目状态整理成给总经理和研发副总看的管理摘要。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必须包含：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1. 当前 Gate　2. 已达成的证据　3. 未解决的关键风险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4. 对成本、现场风险、交付周期的影响　5. 本周需要管理层协调的事项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6. 是否建议继续推进、补实验、暂停或调整方向。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99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D97706"/>
                </a:solidFill>
                <a:latin typeface="Microsoft YaHei"/>
                <a:ea typeface="Microsoft YaHei"/>
              </a:rPr>
              <a:t>产出：周报级管理摘要 → 研发例会固定使用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忘了标准提问？系统会主动引导你走闭环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440680" cy="356616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203200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312E81"/>
                </a:solidFill>
                <a:latin typeface="Microsoft YaHei"/>
                <a:ea typeface="Microsoft YaHei"/>
              </a:rPr>
              <a:t>导览卡片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</a:rPr>
              <a:t>首次导入来源后自动生成：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笔记本摘要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关键要点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3 条建议问题（点击直接发送）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440680" cy="356616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203200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312E81"/>
                </a:solidFill>
                <a:latin typeface="Microsoft YaHei"/>
                <a:ea typeface="Microsoft YaHei"/>
              </a:rPr>
              <a:t>回答后的下一步建议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</a:rPr>
              <a:t>每轮主回答结束后给出 3 条建议问题：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结合本轮问题 + 主回答 + 笔记本上下文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主回答完成即恢复输入框，建议异步生成不阻塞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连续多轮回答，建议各自跟随当轮 AI 消息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86400"/>
            <a:ext cx="11018520" cy="566928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92400E"/>
                </a:solidFill>
                <a:latin typeface="Microsoft YaHei"/>
                <a:ea typeface="Microsoft YaHei"/>
              </a:rPr>
              <a:t>两条内置引导 = 把「许愿式提问」拉回研发闭环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D9770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把闭环装进系统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7D2FE"/>
                </a:solidFill>
                <a:latin typeface="Microsoft YaHei"/>
                <a:ea typeface="Microsoft YaHei"/>
              </a:rPr>
              <a:t>试点笔记本体系、命名规则与最小数据模板 —— 30 分钟就能搭起来。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试点笔记本体系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</a:rPr>
              <a:t>1 个聚合笔记本 + 6 个子笔记本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1018520" cy="77724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</a:rPr>
              <a:t>聚合笔记本：「降失水剂研发方法试点」—— 动态视图关联，不拷贝数据，源笔记本照常更新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1783080" cy="160020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子笔记本 1</a:t>
            </a:r>
          </a:p>
          <a:p>
            <a:pPr algn="ctr"/>
            <a:r>
              <a:rPr sz="1250" b="0">
                <a:solidFill>
                  <a:srgbClr val="E0E7FF"/>
                </a:solidFill>
                <a:latin typeface="Microsoft YaHei"/>
                <a:ea typeface="Microsoft YaHei"/>
              </a:rPr>
              <a:t>降失水剂产品说明与指标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87168" y="2606040"/>
            <a:ext cx="1783080" cy="160020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子笔记本 2</a:t>
            </a:r>
          </a:p>
          <a:p>
            <a:pPr algn="ctr"/>
            <a:r>
              <a:rPr sz="1250" b="0">
                <a:solidFill>
                  <a:srgbClr val="E0E7FF"/>
                </a:solidFill>
                <a:latin typeface="Microsoft YaHei"/>
                <a:ea typeface="Microsoft YaHei"/>
              </a:rPr>
              <a:t>HX-12/HX-14/HX-16</a:t>
            </a:r>
          </a:p>
          <a:p>
            <a:pPr algn="ctr"/>
            <a:r>
              <a:rPr sz="1250" b="0">
                <a:solidFill>
                  <a:srgbClr val="E0E7FF"/>
                </a:solidFill>
                <a:latin typeface="Microsoft YaHei"/>
                <a:ea typeface="Microsoft YaHei"/>
              </a:rPr>
              <a:t>历史研发报告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2606040"/>
            <a:ext cx="1783080" cy="160020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子笔记本 3</a:t>
            </a:r>
          </a:p>
          <a:p>
            <a:pPr algn="ctr"/>
            <a:r>
              <a:rPr sz="1250" b="0">
                <a:solidFill>
                  <a:srgbClr val="E0E7FF"/>
                </a:solidFill>
                <a:latin typeface="Microsoft YaHei"/>
                <a:ea typeface="Microsoft YaHei"/>
              </a:rPr>
              <a:t>降失水剂实验记录</a:t>
            </a:r>
          </a:p>
          <a:p>
            <a:pPr algn="ctr"/>
            <a:r>
              <a:rPr sz="1250" b="0">
                <a:solidFill>
                  <a:srgbClr val="E0E7FF"/>
                </a:solidFill>
                <a:latin typeface="Microsoft YaHei"/>
                <a:ea typeface="Microsoft YaHei"/>
              </a:rPr>
              <a:t>与原始数据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606040"/>
            <a:ext cx="1783080" cy="160020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子笔记本 4</a:t>
            </a:r>
          </a:p>
          <a:p>
            <a:pPr algn="ctr"/>
            <a:r>
              <a:rPr sz="1250" b="0">
                <a:solidFill>
                  <a:srgbClr val="E0E7FF"/>
                </a:solidFill>
                <a:latin typeface="Microsoft YaHei"/>
                <a:ea typeface="Microsoft YaHei"/>
              </a:rPr>
              <a:t>中试、生产样</a:t>
            </a:r>
          </a:p>
          <a:p>
            <a:pPr algn="ctr"/>
            <a:r>
              <a:rPr sz="1250" b="0">
                <a:solidFill>
                  <a:srgbClr val="E0E7FF"/>
                </a:solidFill>
                <a:latin typeface="Microsoft YaHei"/>
                <a:ea typeface="Microsoft YaHei"/>
              </a:rPr>
              <a:t>与现场反馈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2606040"/>
            <a:ext cx="1783080" cy="160020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子笔记本 5</a:t>
            </a:r>
          </a:p>
          <a:p>
            <a:pPr algn="ctr"/>
            <a:r>
              <a:rPr sz="1250" b="0">
                <a:solidFill>
                  <a:srgbClr val="E0E7FF"/>
                </a:solidFill>
                <a:latin typeface="Microsoft YaHei"/>
                <a:ea typeface="Microsoft YaHei"/>
              </a:rPr>
              <a:t>水泥批次、水质</a:t>
            </a:r>
          </a:p>
          <a:p>
            <a:pPr algn="ctr"/>
            <a:r>
              <a:rPr sz="1250" b="0">
                <a:solidFill>
                  <a:srgbClr val="E0E7FF"/>
                </a:solidFill>
                <a:latin typeface="Microsoft YaHei"/>
                <a:ea typeface="Microsoft YaHei"/>
              </a:rPr>
              <a:t>与工况条件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9" y="2606040"/>
            <a:ext cx="1783080" cy="160020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子笔记本 6</a:t>
            </a:r>
          </a:p>
          <a:p>
            <a:pPr algn="ctr"/>
            <a:r>
              <a:rPr sz="1250" b="0">
                <a:solidFill>
                  <a:srgbClr val="E0E7FF"/>
                </a:solidFill>
                <a:latin typeface="Microsoft YaHei"/>
                <a:ea typeface="Microsoft YaHei"/>
              </a:rPr>
              <a:t>外部文献与竞品资料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12E81"/>
                </a:solidFill>
                <a:latin typeface="Microsoft YaHei"/>
                <a:ea typeface="Microsoft YaHei"/>
              </a:rPr>
              <a:t>命名建议：产品线_产品代号_样品阶段_应用条件_日期_资料类型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29200"/>
            <a:ext cx="11018520" cy="86868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2400E"/>
                </a:solidFill>
                <a:latin typeface="Microsoft YaHei"/>
                <a:ea typeface="Microsoft YaHei"/>
              </a:rPr>
              <a:t>聚合视图里怎么查：来源/笔记均可按子笔记本、上传人、标题筛选；每个子笔记本独立维护，聚合自动汇总。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来源命名规则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</a:rPr>
              <a:t>上传文件时保留原始文件名；标题按规则规范，便于筛选与映射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1018520" cy="566928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200"/>
              </a:spcAft>
            </a:pPr>
            <a:r>
              <a:rPr sz="1450" b="0">
                <a:solidFill>
                  <a:srgbClr val="312E81"/>
                </a:solidFill>
                <a:latin typeface="Microsoft YaHei"/>
                <a:ea typeface="Microsoft YaHei"/>
              </a:rPr>
              <a:t>降失水剂_HX-16L_中试样_中低温防沉降_2026-05-09_评价报告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50591"/>
            <a:ext cx="11018520" cy="566928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200"/>
              </a:spcAft>
            </a:pPr>
            <a:r>
              <a:rPr sz="1450" b="0">
                <a:solidFill>
                  <a:srgbClr val="312E81"/>
                </a:solidFill>
                <a:latin typeface="Microsoft YaHei"/>
                <a:ea typeface="Microsoft YaHei"/>
              </a:rPr>
              <a:t>降失水剂_HX-16L_小试样_合成记录_2025-09-12_实验记录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63824"/>
            <a:ext cx="11018520" cy="566928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200"/>
              </a:spcAft>
            </a:pPr>
            <a:r>
              <a:rPr sz="1450" b="0">
                <a:solidFill>
                  <a:srgbClr val="312E81"/>
                </a:solidFill>
                <a:latin typeface="Microsoft YaHei"/>
                <a:ea typeface="Microsoft YaHei"/>
              </a:rPr>
              <a:t>降失水剂_HX-14L_优化评价_2025-02-08_实验报告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</a:rPr>
              <a:t>▪ 同一产品代号必须对应到具体配方版本（小试/中试/生产/现场），否则无法复用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</a:rPr>
              <a:t>▪ 上传重复文件会被识别（忽略大小写与首尾空格），只上传非重复项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</a:rPr>
              <a:t>▪ 下载文件自动还原原始文件名；同名版本靠标题时间戳区分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最小数据模板：实验记录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</a:rPr>
              <a:t>上传报告之外，补一张结构化表；初期不追求完美数据库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项目名称 — 如中低温防沉降降失水剂研发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产品代号 — 如 HX-16L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配方版本 — 小试样 / 中试样 / 生产样 / 现场样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功能类型 — 降失水 / 缓凝 / 减阻 / 复配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原料与批次 — 关键单体、聚合物、供应商、批号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合成工艺参数 — 温度、时间、pH、引发剂、加料方式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理化指标 — 分子量、分布、固含、黏度、zeta 电位、热稳定性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水泥条件 — 厂家、批次、G 级水泥类型、储存状态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水质条件 — 淡水 / 盐水 / 离子浓度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工况条件 — 温度、压力、密度、盐度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测试指标 — 降失水、流变、稠化、强度、稳定性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结果判定 — 达标 / 部分达标 / 不达标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异常现象 — 包芯、倒挂、沉降、失稳、强度不足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失败原因假设 — 配方 / 工艺 / 水泥 / 水质 / 测试 / 未知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下一步动作 — 补测、调整配方、复测、中试、暂停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97880"/>
            <a:ext cx="11018520" cy="50292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92400E"/>
                </a:solidFill>
                <a:latin typeface="Microsoft YaHei"/>
                <a:ea typeface="Microsoft YaHei"/>
              </a:rPr>
              <a:t>字段越完整，阶段 2 的映射与阶段 3 的假设就越有依据 —— 这是「预测」的前提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最小数据模板：现场反馈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</a:rPr>
              <a:t>现场失败代价最高 —— 每条现场反馈都要沉淀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</a:rPr>
              <a:t>▪ 客户 / 区块 — 现场应用对象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</a:rPr>
              <a:t>▪ 井号 / 工况 — 井深、温度、压力、施工条件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</a:rPr>
              <a:t>▪ 使用产品 — 产品代号、配方版本、生产批次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</a:rPr>
              <a:t>▪ 水泥与水质 — 厂家、批次、水质条件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737360"/>
            <a:ext cx="5394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</a:rPr>
              <a:t>▪ 施工表现 — 泵送、稠化、返高、候凝、异常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</a:rPr>
              <a:t>▪ 固井质量 — 合格 / 问题描述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</a:rPr>
              <a:t>▪ 客户反馈 — 原话或结构化摘要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</a:rPr>
              <a:t>▪ 研发判断 — 与配方 / 工况 / 水泥波动的关系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</a:rPr>
              <a:t>▪ 后续动作 — 复测、调整、跟踪、关闭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486400"/>
            <a:ext cx="11018520" cy="566928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312E81"/>
                </a:solidFill>
                <a:latin typeface="Microsoft YaHei"/>
                <a:ea typeface="Microsoft YaHei"/>
              </a:rPr>
              <a:t>现场反馈 → 回到阶段 0/2 重新核对问题定义与产品-配方-场景映射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数据安全：出网脱敏，使用无感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</a:rPr>
              <a:t>库内数据不动 · 只在发往外部 AI 时临时替换 · 返回自动还原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1018520" cy="86868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spcAft>
                <a:spcPts val="200"/>
              </a:spcAft>
            </a:pPr>
            <a:r>
              <a:rPr sz="1450" b="0">
                <a:solidFill>
                  <a:srgbClr val="FFFFFF"/>
                </a:solidFill>
                <a:latin typeface="Microsoft YaHei"/>
                <a:ea typeface="Microsoft YaHei"/>
              </a:rPr>
              <a:t>透明网关原理：库内原文（笔记本/来源/笔记/向量/图谱）始终保持原始形态，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FFFFFF"/>
                </a:solidFill>
                <a:latin typeface="Microsoft YaHei"/>
                <a:ea typeface="Microsoft YaHei"/>
              </a:rPr>
              <a:t>仅在内容发往外部 AI 模型瞬间做一次性替换，模型返回后自动还原 —— 您看到的界面与原来一致。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3611880" cy="219456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52400"/>
          <a:lstStyle/>
          <a:p>
            <a:pPr algn="l">
              <a:spcAft>
                <a:spcPts val="800"/>
              </a:spcAft>
            </a:pPr>
            <a:r>
              <a:rPr sz="1450" b="1">
                <a:solidFill>
                  <a:srgbClr val="92400E"/>
                </a:solidFill>
                <a:latin typeface="Microsoft YaHei"/>
                <a:ea typeface="Microsoft YaHei"/>
              </a:rPr>
              <a:t>注意 1：电话显示 888888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</a:rPr>
              <a:t>按规则固化不可还原，这是设计行为；需要真实电话请查阅原始资料。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743200"/>
            <a:ext cx="3611880" cy="219456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52400"/>
          <a:lstStyle/>
          <a:p>
            <a:pPr algn="l">
              <a:spcAft>
                <a:spcPts val="800"/>
              </a:spcAft>
            </a:pPr>
            <a:r>
              <a:rPr sz="1450" b="1">
                <a:solidFill>
                  <a:srgbClr val="92400E"/>
                </a:solidFill>
                <a:latin typeface="Microsoft YaHei"/>
                <a:ea typeface="Microsoft YaHei"/>
              </a:rPr>
              <a:t>注意 2：联网搜索用科学主题词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</a:rPr>
              <a:t>身份词（人名/井号）以代号形态出网，公网无法识别；请用「高温下降失水剂性能」这类主题词。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743200"/>
            <a:ext cx="3611880" cy="219456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52400"/>
          <a:lstStyle/>
          <a:p>
            <a:pPr algn="l">
              <a:spcAft>
                <a:spcPts val="800"/>
              </a:spcAft>
            </a:pPr>
            <a:r>
              <a:rPr sz="1450" b="1">
                <a:solidFill>
                  <a:srgbClr val="92400E"/>
                </a:solidFill>
                <a:latin typeface="Microsoft YaHei"/>
                <a:ea typeface="Microsoft YaHei"/>
              </a:rPr>
              <a:t>注意 3：新人名需录词典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</a:rPr>
              <a:t>井号/电话/产品代号自动识别；人员姓名需管理员在设置页录入词典后才会被替换。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303520"/>
            <a:ext cx="11018520" cy="566928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12E81"/>
                </a:solidFill>
                <a:latin typeface="Microsoft YaHei"/>
                <a:ea typeface="Microsoft YaHei"/>
              </a:rPr>
              <a:t>库内存储、搜索、引用全部使用原文 —— 用真实人名/井号提问可正常命中，无需改变习惯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稳定保障：从 7 月反馈到 8 月修复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已修复（8 月）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全局提问偶发「供应商返回错误」— 实为内部并行检索合并问题，已修复，与供应商无关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老版 .doc 上传后嵌入/图谱卡住 — 自动引擎路径已补转换，两份失败文档已恢复全流程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设置页密钥与白名单被误清空 — 改为掩码显示，保存其他设置不再误清</a:t>
            </a:r>
          </a:p>
          <a:p>
            <a:pPr algn="l">
              <a:spcAft>
                <a:spcPts val="14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「询问与搜索 / 提问与搜索」名称统一</a:t>
            </a:r>
          </a:p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可观测（用户可见）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阶段状态提示：获取上下文 / 联网搜索 / 生成回答 / 生成建议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等待秒数心跳：「正在等待模型响应（N 秒）」；超时以气泡提示操作指引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帮助中心 /help 全中文操作手册，随功能同步更新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4630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92400E"/>
                </a:solidFill>
                <a:latin typeface="Microsoft YaHei"/>
                <a:ea typeface="Microsoft YaHei"/>
              </a:rPr>
              <a:t>路线图（规划中，如实说明）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模型故障自动切换机制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实验数据索引（Excel 逐条结构化）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实验时间线（按产品追溯）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产品图谱与版本迭代图</a:t>
            </a:r>
          </a:p>
          <a:p>
            <a:pPr algn="l">
              <a:spcAft>
                <a:spcPts val="14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数据备份与恢复流程文档化</a:t>
            </a:r>
          </a:p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现场保障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培训期间主备模型双保险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管理员每周日志巡检与模型健康检查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成功指标：试点看得见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</a:rPr>
              <a:t>领导看指标，团队看闭环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611880" cy="54864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</a:rPr>
              <a:t>试点 1 个月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3566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▪ 试点聚合笔记本建成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▪ ≥30 份历史资料形成证据地图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▪ 产品代号-配方版本映射表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▪ 3 次结构化问答沉淀为笔记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▪ 1 份下一轮实验矩阵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611880" cy="54864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</a:rPr>
              <a:t>试点 3 个月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148840"/>
            <a:ext cx="3566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▪ 实验记录最小数据库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▪ 3-5 条可复用研发规则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▪ 减少重复试错实验组合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▪ ≥1 个可进中试/现场验证方案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▪ 可迁移到缓凝剂/减阻剂的流程模板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611880" cy="54864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</a:rPr>
              <a:t>管理层指标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48840"/>
            <a:ext cx="3566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▪ 关键项目按时交付率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▪ 现场技术问题数量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▪ 单产品研发成本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▪ 失败案例复用率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▪ 实验数据字段完整率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▪ 问题→实验矩阵的周期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12E81"/>
                </a:solidFill>
                <a:latin typeface="Microsoft YaHei"/>
                <a:ea typeface="Microsoft YaHei"/>
              </a:rPr>
              <a:t>每个人的下一步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611880" cy="54864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</a:rPr>
              <a:t>主管领导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3566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确定试点唯一口径：油井水泥用降失水剂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明确 4 个 Gate 的审批节奏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研发例会固定使用 Lumina 管理摘要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611880" cy="54864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</a:rPr>
              <a:t>研发人员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148840"/>
            <a:ext cx="3566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按命名规则整理资料，去重后上传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建试点笔记本，用标准提问跑一轮闭环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拒绝「许愿式提问」，先定义问题再问 AI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每次实验后必做复盘并保存为笔记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611880" cy="54864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</a:rPr>
              <a:t>管理员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148840"/>
            <a:ext cx="3566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账号、模型与密钥配置保持稳定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维护脱敏人名词典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每周日志巡检 + 模型健康检查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760720"/>
            <a:ext cx="11018520" cy="566928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312E81"/>
                </a:solidFill>
                <a:latin typeface="Microsoft YaHei"/>
                <a:ea typeface="Microsoft YaHei"/>
              </a:rPr>
              <a:t>本周内完成：试点笔记本建好 + 第一张问题定义卡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证据驱动的研发闭环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Lumina 的价值，不在回答问题，</a:t>
            </a:r>
          </a:p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而在帮助欧美克把研发过程变成可复制的操作系统。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3931920"/>
            <a:ext cx="128016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7D2FE"/>
                </a:solidFill>
                <a:latin typeface="Microsoft YaHei"/>
                <a:ea typeface="Microsoft YaHei"/>
              </a:rPr>
              <a:t>从今天开始 —— 用一条闭环，让每一轮研发都可追踪、可复盘、可预测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A5B4FC"/>
                </a:solidFill>
                <a:latin typeface="Microsoft YaHei"/>
                <a:ea typeface="Microsoft YaHei"/>
              </a:rPr>
              <a:t>现场答疑 · 提问词见各实操页 · 会后手册：系统内 /help 帮助中心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
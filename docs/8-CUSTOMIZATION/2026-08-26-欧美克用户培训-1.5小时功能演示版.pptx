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60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A5B4FC"/>
                </a:solidFill>
                <a:latin typeface="Microsoft YaHei"/>
                <a:ea typeface="Microsoft YaHei"/>
              </a:rPr>
              <a:t>LUMITON·OMAX 用户培训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20240"/>
            <a:ext cx="106070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把「没用过的新能力」</a:t>
            </a:r>
          </a:p>
          <a:p>
            <a:pPr algn="l"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</a:rPr>
              <a:t>一次演示给你看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749039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C7D2FE"/>
                </a:solidFill>
                <a:latin typeface="Microsoft YaHei"/>
                <a:ea typeface="Microsoft YaHei"/>
              </a:rPr>
              <a:t>—— 系统主要功能演示 · 聚焦 6 月以来新增的 30+ 项能力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4480560"/>
            <a:ext cx="128016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A5B4FC"/>
                </a:solidFill>
                <a:latin typeface="Microsoft YaHei"/>
                <a:ea typeface="Microsoft YaHei"/>
              </a:rPr>
              <a:t>对象：主管领导 + 系统使用人员（约 12 人）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A5B4FC"/>
                </a:solidFill>
                <a:latin typeface="Microsoft YaHei"/>
                <a:ea typeface="Microsoft YaHei"/>
              </a:rPr>
              <a:t>形式：系统实操演示为主 · 90 分钟 · 2026 年 8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90 分钟议程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按使用顺序：登录 → 来源 → 聊天 → 研究 → 组织 → 安全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81328"/>
            <a:ext cx="502920" cy="47548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49961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开场：新功能地图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0" y="15179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5' · 全员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29968"/>
            <a:ext cx="502920" cy="47548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04825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账号与工作台：个人资料 · 只看我的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0" y="20665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5' · 全员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78608"/>
            <a:ext cx="502920" cy="47548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59689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来源管理新能力：筛选引用范围 · 下载 · 图片源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0" y="26151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13' · 使用人员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27248"/>
            <a:ext cx="502920" cy="47548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14553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聊天新体验：导览卡片 · 建议 · 等待状态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16382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13' · 使用人员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675888"/>
            <a:ext cx="502920" cy="47548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369417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科研 Agent：自主检索 + 10 个策研技能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84080" y="37124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20' · 全员核心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224528"/>
            <a:ext cx="502920" cy="47548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25880" y="4242816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全局「提问与搜索」：覆盖统计 · 历史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84080" y="426110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10' · 使用人员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73168"/>
            <a:ext cx="502920" cy="47548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25880" y="4791455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笔记本组织：聚合笔记本 · 密码管理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48097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8' · 领导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321807"/>
            <a:ext cx="502920" cy="47548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340095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数据安全：出网脱敏透明网关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5358383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5' · 领导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870447"/>
            <a:ext cx="502920" cy="47548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</a:rPr>
              <a:t>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25880" y="5888735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收尾：帮助中心 · 路线图 · 答疑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5907023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50" b="0">
                <a:solidFill>
                  <a:srgbClr val="6B7280"/>
                </a:solidFill>
                <a:latin typeface="Microsoft YaHei"/>
                <a:ea typeface="Microsoft YaHei"/>
              </a:rPr>
              <a:t>11' · 全员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新功能地图（本场覆盖）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总览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234440" cy="621792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账号层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57400" y="164592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个人资料页 · 只看我的 · 最近笔记本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313432"/>
            <a:ext cx="1234440" cy="621792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来源层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57400" y="2359152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搜索分页 · 来源筛选(本次引用范围) · 仅已嵌入可选 · 数量上限 · 下载(MD/ZIP) · 独立图片源 · 删源三规则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026664"/>
            <a:ext cx="1234440" cy="621792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聊天层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57400" y="3072384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导览卡片 · 回答后 3 条建议 · 阶段等待状态 · 超时气泡 · 保存笔记 · 联网搜索降级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739896"/>
            <a:ext cx="1234440" cy="621792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研究层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7400" y="3785616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⭐科研 Agent（自主检索 + 10 个策研技能）· ⭐全局提问与搜索（覆盖统计 + 历史）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53128"/>
            <a:ext cx="1234440" cy="621792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组织层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7400" y="4498848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聚合笔记本 · 密码全生命周期 · 来源数量上限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166360"/>
            <a:ext cx="1234440" cy="621792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安全层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57400" y="5212080"/>
            <a:ext cx="95097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⭐出网脱敏透明网关（库内原文不动 · 出网替换 · 回网还原）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897880"/>
            <a:ext cx="11018520" cy="4572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350" b="1">
                <a:solidFill>
                  <a:srgbClr val="312E81"/>
                </a:solidFill>
                <a:latin typeface="Microsoft YaHei"/>
                <a:ea typeface="Microsoft YaHei"/>
              </a:rPr>
              <a:t>⭐ = 8 月新增（最新）　🆕 = 6-7 月新增（多数人没用过）　其余 = 已有能力补强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D9770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账号与工作台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5 分钟 · 先说清楚自己的身份、数据和入口在哪里。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账号与工作台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5'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"/>
            <a:ext cx="12" cy="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</a:rPr>
              <a:t>▪ 🆕 个人资料页 /profile：改显示名称、改密码（旧密码验证），无需找管理员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</a:rPr>
              <a:t>▪ 🆕 只看我的：一键只看自己创建的笔记本，可叠加名称搜索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</a:rPr>
              <a:t>▪ 🆕 最近笔记本：侧边栏快进入口，长标题 hover 查看全名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Microsoft YaHei"/>
                <a:ea typeface="Microsoft YaHei"/>
              </a:rPr>
              <a:t>▪ 词元统计：聊天输入框实时显示（Token 已统一为「词元」）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06440"/>
            <a:ext cx="11018520" cy="5486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12E81"/>
                </a:solidFill>
                <a:latin typeface="Microsoft YaHei"/>
                <a:ea typeface="Microsoft YaHei"/>
              </a:rPr>
              <a:t>现场操作：打开个人资料页 → 笔记本页演示「只看我的」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D9770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来源管理新能力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13 分钟 · 资料多了以后：找得到、选得准、交得出。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来源管理 ①：搜索分页 + 筛选引用范围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13'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搜索与分页（Sources 全局页）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标题搜索（回车触发）+ 总条数/页码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搜索无结果有明确提示，不再像系统没数据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上传人列：多人共用时追溯资料来源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添加现有来源弹窗支持搜索 + 全选筛选结果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来源筛选 = 本次聊天引用范围（核心）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打开笔记本 → 来源栏筛选框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筛选结果支持「全选 / 取消全选」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资料属于项目 ≠ 本次回答引用哪些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取消勾选只是不参与本次回答，来源仍在笔记本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1018520" cy="54864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现场演示：筛选「HX」→ 全选 → 只让筛选结果参与本次聊天（30 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来源管理 ②：解析结果可交付 + 图片也能查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13'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解析结果下载（来源详情页）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Markdown 下载：UTF-8 全文，可直接编辑归档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ZIP 包下载：Markdown + 全部抽取图片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图片路径已改写为相对路径，解压即可预览带图文档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重要解析结果可以交付、复查、分享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0020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独立图片源 + Vision 描述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上传图片即成为来源：先显示原图，再显示 AI 描述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TIFF 无法在浏览器预览 → 自动转 PNG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图片描述纳入向量搜索：按图片内容语义搜索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文档内嵌图（PDF/Excel）也自动抽取并描述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1018520" cy="5486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12E81"/>
                </a:solidFill>
                <a:latin typeface="Microsoft YaHei"/>
                <a:ea typeface="Microsoft YaHei"/>
              </a:rPr>
              <a:t>现场演示：下载一个 ZIP 包 → 打开一个图片源（1 分钟）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来源管理 ③：三条防误操作规则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13'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611880" cy="32918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10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仅已嵌入可选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添加现有来源弹窗只列出处理完成的来源；未处理完的不出现、不显示禁选原因，不误选「半成品」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737360"/>
            <a:ext cx="3611880" cy="32918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10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来源数量上限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单笔记本来源数默认 50，管理员在「设置 → 文件管理」可调 1-200；达到上限有明确提示，防止资料无限堆积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737360"/>
            <a:ext cx="3611880" cy="32918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 tIns="177800"/>
          <a:lstStyle/>
          <a:p>
            <a:pPr algn="l">
              <a:spcAft>
                <a:spcPts val="10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删源三规则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自己的 + 未被引用 → 直接删；别人的 → 只能「移除」；自己的 + 多笔记本引用 → 需管理员密码（后端校验）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D9770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聊天新体验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13 分钟 · 从「不会问」到「被引导着问」。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聊天 ①：导览卡片 + 回答后的下一步建议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13'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36576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20320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312E81"/>
                </a:solidFill>
                <a:latin typeface="Microsoft YaHei"/>
                <a:ea typeface="Microsoft YaHei"/>
              </a:rPr>
              <a:t>🆕 导览卡片（首次导入后自动生成）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笔记本摘要 + 关键要点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3 条建议问题，点击即直接发送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不知道问什么？从导览卡片开始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440680" cy="36576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203200"/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312E81"/>
                </a:solidFill>
                <a:latin typeface="Microsoft YaHei"/>
                <a:ea typeface="Microsoft YaHei"/>
              </a:rPr>
              <a:t>🆕 每轮回答后的 3 条下一步建议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结合本轮问题 + 主回答 + 笔记本上下文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主回答完成即恢复输入框，建议异步生成不阻塞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点击建议直接追问，连续对话不跑偏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11018520" cy="54864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92400E"/>
                </a:solidFill>
                <a:latin typeface="Microsoft YaHei"/>
                <a:ea typeface="Microsoft YaHei"/>
              </a:rPr>
              <a:t>两条内置引导 = 把「许愿式提问」拉回研发闭环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聊天 ②：慢的时候，你能看到系统在干什么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13'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2148840" cy="6858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1. 获取上下文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85623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1691640"/>
            <a:ext cx="2148840" cy="6858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2. 联网搜索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74920" y="185623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691640"/>
            <a:ext cx="2148840" cy="6858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3. 等待模型响应（N 秒）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85623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1691640"/>
            <a:ext cx="2148840" cy="685800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4. 模型已开始输出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6919" y="1856231"/>
            <a:ext cx="13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1">
                <a:solidFill>
                  <a:srgbClr val="6B7280"/>
                </a:solidFill>
                <a:latin typeface="Microsoft YaHei"/>
                <a:ea typeface="Microsoft YaHei"/>
              </a:rPr>
              <a:t>›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784080" y="1691640"/>
            <a:ext cx="2148840" cy="6858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>5. 正在生成建议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743200"/>
            <a:ext cx="10972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超时保护（不再像卡死）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等待秒数实时心跳：区分「工作中」还是「卡死」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超时以 AI 气泡提示（中文操作指引）：缩小来源范围 / 新建会话重试，不再弹英文 toast</a:t>
            </a:r>
          </a:p>
          <a:p>
            <a:pPr algn="l">
              <a:spcAft>
                <a:spcPts val="8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移动端切 Tab 不中断回答；停止生成保留已生成内容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聊天 ③：保存为笔记 + 联网搜索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13'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保存为笔记（回答沉淀）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每轮有价值回答一键存为笔记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演示笔记本已存 7 份递进式笔记（问题定义卡→管理摘要）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笔记参与搜索与后续聊天上下文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Ask 答案同样可复制 / 保存为笔记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9164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联网搜索（Tavily）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Chat 面板开关，AI 可检索实时网页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查询有超时控制 + 失败降级，不会无限等待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本地来源与网络引用分开编号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「搜索次数用完」≠ 模型配额，是 Tavily 上限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D9770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科研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20 分钟 · 全场核心：把复杂问题交给它，它自己检索、阅读、综合。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什么是科研 Agent：聊天页切「科研」模式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核心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371600" cy="566928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48840" y="1682496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快速聊天（Quick）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86600" y="1645920"/>
            <a:ext cx="4572000" cy="566928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2400E"/>
                </a:solidFill>
                <a:latin typeface="Microsoft YaHei"/>
                <a:ea typeface="Microsoft YaHei"/>
              </a:rPr>
              <a:t>科研 Agent（Research）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59152"/>
            <a:ext cx="137160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312E81"/>
                </a:solidFill>
                <a:latin typeface="Microsoft YaHei"/>
                <a:ea typeface="Microsoft YaHei"/>
              </a:rPr>
              <a:t>上下文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48840" y="23957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你手动选来源、定模式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86600" y="2359152"/>
            <a:ext cx="4572000" cy="566928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2400E"/>
                </a:solidFill>
                <a:latin typeface="Microsoft YaHei"/>
                <a:ea typeface="Microsoft YaHei"/>
              </a:rPr>
              <a:t>它自主检索：列源 → 向量检索 → 分段读取 → 再检索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072384"/>
            <a:ext cx="137160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312E81"/>
                </a:solidFill>
                <a:latin typeface="Microsoft YaHei"/>
                <a:ea typeface="Microsoft YaHei"/>
              </a:rPr>
              <a:t>提问方式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3108960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逐步递进的标准提问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3072384"/>
            <a:ext cx="4572000" cy="566928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2400E"/>
                </a:solidFill>
                <a:latin typeface="Microsoft YaHei"/>
                <a:ea typeface="Microsoft YaHei"/>
              </a:rPr>
              <a:t>只问一个复杂问题，它自主规划检索路径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785616"/>
            <a:ext cx="137160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312E81"/>
                </a:solidFill>
                <a:latin typeface="Microsoft YaHei"/>
                <a:ea typeface="Microsoft YaHei"/>
              </a:rPr>
              <a:t>能力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822192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基于选定上下文回答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86600" y="3785616"/>
            <a:ext cx="4572000" cy="566928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2400E"/>
                </a:solidFill>
                <a:latin typeface="Microsoft YaHei"/>
                <a:ea typeface="Microsoft YaHei"/>
              </a:rPr>
              <a:t>工具调用 + 联网 + 科学数据库 + 10 个策研技能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498848"/>
            <a:ext cx="1371600" cy="566928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50" b="1">
                <a:solidFill>
                  <a:srgbClr val="312E81"/>
                </a:solidFill>
                <a:latin typeface="Microsoft YaHei"/>
                <a:ea typeface="Microsoft YaHei"/>
              </a:rPr>
              <a:t>适用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48840" y="4535424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6B7280"/>
                </a:solidFill>
                <a:latin typeface="Microsoft YaHei"/>
                <a:ea typeface="Microsoft YaHei"/>
              </a:rPr>
              <a:t>已知来源、精读分析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86600" y="4498848"/>
            <a:ext cx="4572000" cy="566928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92400E"/>
                </a:solidFill>
                <a:latin typeface="Microsoft YaHei"/>
                <a:ea typeface="Microsoft YaHei"/>
              </a:rPr>
              <a:t>证据脉络不明、跨文档诊断、复杂综合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科研 Agent 的能力清单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内置工具（只读，全程限笔记本范围）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列出来源与笔记清单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语义检索笔记本证据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按 ID 分段读取来源 / 笔记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跨笔记本发现（需显式授权）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联网搜索 · 科学数据库连接器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45920"/>
            <a:ext cx="53949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10 个策研技能（按问题自动加载）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化学身份与物性 · 竞争假设 · DOE 统计计划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证据批判性评估 · 配方兼容矩阵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高温高压盐水验证 · 文献 DOI 验证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油井水泥外加剂诊断 · 放大验证 Gate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1F2937"/>
                </a:solidFill>
                <a:latin typeface="Microsoft YaHei"/>
                <a:ea typeface="Microsoft YaHei"/>
              </a:rPr>
              <a:t>▪ 结构化研究报告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真实案例：一个问题的自主工作轨迹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6B7280"/>
                </a:solidFill>
                <a:latin typeface="Microsoft YaHei"/>
                <a:ea typeface="Microsoft YaHei"/>
              </a:rPr>
              <a:t>素材：演示笔记本「科研Agent示范_大温差缓凝剂顶部强度」（10 份源）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核心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64008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80136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第 1 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801368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列出来源清单，决定先读时间线早期文档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514600"/>
            <a:ext cx="64008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5328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第 2-3 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0" y="2532888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逐份读取研发报告（每份分段，共 10 份）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246120"/>
            <a:ext cx="64008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6440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第 4-5 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3264408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检索「顶部强度/缓凝」矛盾证据，再读关键段落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977639"/>
            <a:ext cx="640080" cy="566928"/>
          </a:xfrm>
          <a:prstGeom prst="roundRect">
            <a:avLst/>
          </a:prstGeom>
          <a:solidFill>
            <a:srgbClr val="4338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95927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第 6 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3995927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停止检索，进入最终综合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4709159"/>
            <a:ext cx="640080" cy="56692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727447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1">
                <a:solidFill>
                  <a:srgbClr val="1F2937"/>
                </a:solidFill>
                <a:latin typeface="Microsoft YaHei"/>
                <a:ea typeface="Microsoft YaHei"/>
              </a:rPr>
              <a:t>自主纠错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4727447"/>
            <a:ext cx="7315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发现用了猜测的来源 ID → 改用工具返回的真实 ID 列表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623560"/>
            <a:ext cx="11018520" cy="54864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全程 6 轮迭代、10+ 次工具调用、约 3 分钟 —— 过程可观测、可审计（日志留痕）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成果 ①：证据脉络综合报告（170 秒自动产出）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核心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440680" cy="356616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203200"/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完整时间线表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2025.6 → 2026.8 共 9 个时间节点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每节点：关键发现 + 遗留问题 + 来源 ID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四条研发路线：新单体 → QS-20S → 咪唑/1.6SG → 大温差 HX-36LB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91640"/>
            <a:ext cx="5440680" cy="356616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tIns="203200"/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92400E"/>
                </a:solidFill>
                <a:latin typeface="Microsoft YaHei"/>
                <a:ea typeface="Microsoft YaHei"/>
              </a:rPr>
              <a:t>四类矛盾证据（诊断价值）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强缓凝 → 顶部强度滞后（90℃ 4 天未初凝）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温度倒挂：升温 5℃ 稠化时间反而翻倍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降黏与缓凝时长的跷跷板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渤星标杆反衬（QS-20S 压低 40℃ 强度）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623560"/>
            <a:ext cx="11018520" cy="54864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312E81"/>
                </a:solidFill>
                <a:latin typeface="Microsoft YaHei"/>
                <a:ea typeface="Microsoft YaHei"/>
              </a:rPr>
              <a:t>严格区分「证据」与「推断」：原始实测 [source] vs 转述派生 [source_insight] 标注待核对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成果 ②：机理假设 + 6 组验证方案（248 秒自动产出）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三个机理假设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H1（优先）：缓凝剂在 90℃ 低温段过度抑制顶部水化诱导期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H2：降温路径诱发吸附迟滞/构象变化（与倒挂同源）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H3：降黏/分散组分的低温竞争吸附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9164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H1 六组验证方案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空白基线 → 渤星标杆 → 缺陷复现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→ 剂量减半 → 成核封锁探针 → 机制定量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每组含通过标准 + 失败判据</a:t>
            </a:r>
          </a:p>
          <a:p>
            <a:pPr algn="l">
              <a:spcAft>
                <a:spcPts val="800"/>
              </a:spcAft>
            </a:pPr>
            <a:r>
              <a:rPr sz="1350" b="0">
                <a:solidFill>
                  <a:srgbClr val="1F2937"/>
                </a:solidFill>
                <a:latin typeface="Microsoft YaHei"/>
                <a:ea typeface="Microsoft YaHei"/>
              </a:rPr>
              <a:t>▪ 附「组 4/5 失败 → 转 H2/H3」的判定逻辑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1018520" cy="54864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元发现：现有数据几乎全部是单次实验 —— 方案要求每组 ≥2 次平行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什么时候用科研 Agent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核心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312E81"/>
                </a:solidFill>
                <a:latin typeface="Microsoft YaHei"/>
                <a:ea typeface="Microsoft YaHei"/>
              </a:rPr>
              <a:t>用科研 Agent（研究模式）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证据脉络不明，需要先盘点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跨多份文档诊断、比较、综合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复杂问题一次交付结构化报告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「你只问问题，它负责检索与阅读」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737360"/>
            <a:ext cx="53949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700" b="1">
                <a:solidFill>
                  <a:srgbClr val="312E81"/>
                </a:solidFill>
                <a:latin typeface="Microsoft YaHei"/>
                <a:ea typeface="Microsoft YaHei"/>
              </a:rPr>
              <a:t>用快速聊天（快速模式）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已知要参考哪些来源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精读分析、逐步追问验证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上下文敏感的单点问题</a:t>
            </a:r>
          </a:p>
          <a:p>
            <a:pPr algn="l">
              <a:spcAft>
                <a:spcPts val="900"/>
              </a:spcAft>
            </a:pPr>
            <a:r>
              <a:rPr sz="1450" b="0">
                <a:solidFill>
                  <a:srgbClr val="1F2937"/>
                </a:solidFill>
                <a:latin typeface="Microsoft YaHei"/>
                <a:ea typeface="Microsoft YaHei"/>
              </a:rPr>
              <a:t>▪ 「你控制证据，AI 负责回答」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1018520" cy="54864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现场演示：研究模式发一个短问题（约 2-4 分钟，模型不稳时展示成品报告）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D9770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全局「提问与搜索」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10 分钟 · 这个页面 8 月才修好，多数人可能从没用成功过。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全局提问与搜索：覆盖统计 + 历史记录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10'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检索覆盖统计（每个回答附带）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来源总数 / 可检索来源 / 本次命中来源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一眼判断回答覆盖了多少资料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命中少 = 该补资料或换问法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最终回答不会把「命中数」误说成「总数」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91640"/>
            <a:ext cx="53949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体验细节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历史记录：浏览器保存问答+覆盖统计，刷新不丢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思考过程与最终答案分开渲染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可中途停止，保留已生成内容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菜单与标题已统一为「提问与搜索」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06440"/>
            <a:ext cx="11018520" cy="54864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8 月修复：此前「模型供应商返回错误」实为内部并行检索合并问题——与供应商无关，已修复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D97706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笔记本组织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8 分钟 · 领导关注：项目怎么分层、资料怎么收口。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聚合笔记本 + 密码全生命周期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8'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45920"/>
            <a:ext cx="11018520" cy="86868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300"/>
              </a:spcAft>
            </a:pPr>
            <a:r>
              <a:rPr sz="1550" b="1">
                <a:solidFill>
                  <a:srgbClr val="FFFFFF"/>
                </a:solidFill>
                <a:latin typeface="Microsoft YaHei"/>
                <a:ea typeface="Microsoft YaHei"/>
              </a:rPr>
              <a:t>聚合笔记本：多子笔记本合并成一个视图 —— 不拷贝数据、毫秒级同步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E0E7FF"/>
                </a:solidFill>
                <a:latin typeface="Microsoft YaHei"/>
                <a:ea typeface="Microsoft YaHei"/>
              </a:rPr>
              <a:t>试点体系 = 1 聚合 + 6 子（产品说明 / 研发报告 / 实验记录 / 现场反馈 / 水泥批次 / 外部文献）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8346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密码全生命周期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设密码 / 改密码 / 撤销密码，随时可调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仅笔记本创建者可管理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管理员密码可绕过（兜底）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敏感项目、客户资料建议加密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2834640"/>
            <a:ext cx="53949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权限收敛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三点菜单（密码/归档/删除）仅创建者可见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来源上限默认 50，防止堆积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只看我的 + 搜索 + 活动/聚合/归档分组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6596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D97706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0175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数据安全：出网脱敏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160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C7D2FE"/>
                </a:solidFill>
                <a:latin typeface="Microsoft YaHei"/>
                <a:ea typeface="Microsoft YaHei"/>
              </a:rPr>
              <a:t>5 分钟 · 领导关注：核心 IP 信息不出企业边界。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出网脱敏透明网关：使用无感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5'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00200"/>
            <a:ext cx="11018520" cy="96012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</a:rPr>
              <a:t>库内原文不动 → 发往外部 AI 瞬间临时替换 → 返回自动还原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E0E7FF"/>
                </a:solidFill>
                <a:latin typeface="Microsoft YaHei"/>
                <a:ea typeface="Microsoft YaHei"/>
              </a:rPr>
              <a:t>公司名→某企业 · 井号→实验井A · 产品代号→减阻剂A · 电话→888888；您看到的界面与原来一致，检索、引用、存储全部用原文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3611880" cy="182880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注意 1：电话显示 888888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规则固化不可还原；真实电话请查阅原始资料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2880360"/>
            <a:ext cx="3611880" cy="182880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注意 2：联网搜索用科学主题词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身份词以代号出网搜不到；用「高温下降失水剂性能」而非「张三的实验」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2880360"/>
            <a:ext cx="3611880" cy="1828800"/>
          </a:xfrm>
          <a:prstGeom prst="roundRect">
            <a:avLst/>
          </a:prstGeom>
          <a:solidFill>
            <a:srgbClr val="FDF3E7"/>
          </a:solidFill>
          <a:ln w="1524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52400"/>
          <a:lstStyle/>
          <a:p>
            <a:pPr algn="l">
              <a:spcAft>
                <a:spcPts val="800"/>
              </a:spcAft>
            </a:pPr>
            <a:r>
              <a:rPr sz="1400" b="1">
                <a:solidFill>
                  <a:srgbClr val="92400E"/>
                </a:solidFill>
                <a:latin typeface="Microsoft YaHei"/>
                <a:ea typeface="Microsoft YaHei"/>
              </a:rPr>
              <a:t>注意 3：新人名需录词典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1F2937"/>
                </a:solidFill>
                <a:latin typeface="Microsoft YaHei"/>
                <a:ea typeface="Microsoft YaHei"/>
              </a:rPr>
              <a:t>井号/电话/产品代号自动识别；人名需管理员在「设置→内容脱敏」录入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5029200"/>
            <a:ext cx="11018520" cy="68580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77800"/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312E81"/>
                </a:solidFill>
                <a:latin typeface="Microsoft YaHei"/>
                <a:ea typeface="Microsoft YaHei"/>
              </a:rPr>
              <a:t>边界如实说明：图片、音频不经过文本脱敏；嵌入向量与库内存储按信任边界决策不脱敏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84048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12E81"/>
                </a:solidFill>
                <a:latin typeface="Microsoft YaHei"/>
                <a:ea typeface="Microsoft YaHei"/>
              </a:rPr>
              <a:t>收尾：帮助中心 · 路线图 · 练习素材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042415"/>
            <a:ext cx="822960" cy="40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607040" y="457200"/>
            <a:ext cx="1097280" cy="384048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ctr">
              <a:spcAft>
                <a:spcPts val="20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</a:rPr>
              <a:t>11'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312E81"/>
                </a:solidFill>
                <a:latin typeface="Microsoft YaHei"/>
                <a:ea typeface="Microsoft YaHei"/>
              </a:rPr>
              <a:t>会后可用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/help 帮助中心：全中文操作手册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8 月已同步全部新功能说明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两个演示笔记本留作练习：
  ① HX-16L 证据闭环（快速聊天 7 阶段）
  ② 大温差缓凝剂（科研 Agent）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63640" y="164592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650" b="1">
                <a:solidFill>
                  <a:srgbClr val="92400E"/>
                </a:solidFill>
                <a:latin typeface="Microsoft YaHei"/>
                <a:ea typeface="Microsoft YaHei"/>
              </a:rPr>
              <a:t>路线图（规划中，如实说明）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模型故障自动切换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实验数据索引（Excel 逐条结构化）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实验时间线（按产品追溯）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产品图谱与版本迭代图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1F2937"/>
                </a:solidFill>
                <a:latin typeface="Microsoft YaHei"/>
                <a:ea typeface="Microsoft YaHei"/>
              </a:rPr>
              <a:t>▪ 数据备份恢复流程文档化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5897880"/>
            <a:ext cx="11018520" cy="502920"/>
          </a:xfrm>
          <a:prstGeom prst="roundRect">
            <a:avLst/>
          </a:prstGeom>
          <a:solidFill>
            <a:srgbClr val="EEF2FF"/>
          </a:solidFill>
          <a:ln w="15240">
            <a:solidFill>
              <a:srgbClr val="4338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50800" bIns="50800"/>
          <a:lstStyle/>
          <a:p>
            <a:pPr algn="l">
              <a:spcAft>
                <a:spcPts val="200"/>
              </a:spcAft>
            </a:pPr>
            <a:r>
              <a:rPr sz="1450" b="1">
                <a:solidFill>
                  <a:srgbClr val="312E81"/>
                </a:solidFill>
                <a:latin typeface="Microsoft YaHei"/>
                <a:ea typeface="Microsoft YaHei"/>
              </a:rPr>
              <a:t>答疑：现场提问 + 会后群内跟进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73952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6B7280"/>
                </a:solidFill>
                <a:latin typeface="Microsoft YaHei"/>
                <a:ea typeface="Microsoft YaHei"/>
              </a:rPr>
              <a:t>Lumiton·Omax 用户培训 · 1.5 小时功能演示版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286000"/>
            <a:ext cx="106070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把没用过的新能力，</a:t>
            </a:r>
          </a:p>
          <a:p>
            <a:pPr algn="l">
              <a:spcAft>
                <a:spcPts val="600"/>
              </a:spcAft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</a:rPr>
              <a:t>变成每天在用的生产力。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4023360"/>
            <a:ext cx="1280160" cy="381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389120"/>
            <a:ext cx="10607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C7D2FE"/>
                </a:solidFill>
                <a:latin typeface="Microsoft YaHei"/>
                <a:ea typeface="Microsoft YaHei"/>
              </a:rPr>
              <a:t>今天之后：登录 → 传资料 → 筛选引用 → 聊天被引导 → 复杂问题交给科研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4864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A5B4FC"/>
                </a:solidFill>
                <a:latin typeface="Microsoft YaHei"/>
                <a:ea typeface="Microsoft YaHei"/>
              </a:rPr>
              <a:t>会后材料：/help 帮助中心 · 两个演示笔记本 · 本演示大纲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